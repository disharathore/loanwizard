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48640"/>
            <a:ext cx="3108960" cy="347472"/>
          </a:xfrm>
          <a:prstGeom prst="rect">
            <a:avLst/>
          </a:prstGeom>
          <a:solidFill>
            <a:srgbClr val="E85D2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D24"/>
                </a:solidFill>
              </a:rPr>
              <a:t>TenzorX 2026 · Problem Statement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LoanWizard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Video Call–Based Loan Onboarding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digital, AI-driven loan origination system that replaces paperwork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2-minute video conversation — real-time KYC, fraud detection &amp; personalized offers.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Poonawalla Fincorp  ·  Powered by Claude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457200"/>
            <a:ext cx="2286000" cy="411480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280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🏦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Video · AI · Instant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D24"/>
                </a:solidFill>
              </a:rPr>
              <a:t>Loan Offer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6B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</a:rPr>
              <a:t>Traditional loan journeys are broken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1920240" cy="73152"/>
          </a:xfrm>
          <a:prstGeom prst="rect">
            <a:avLst/>
          </a:prstGeom>
          <a:solidFill>
            <a:srgbClr val="C42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High Drop-offs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Complex forms cause 60–70%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of applicants to abandon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371600"/>
            <a:ext cx="1920240" cy="73152"/>
          </a:xfrm>
          <a:prstGeom prst="rect">
            <a:avLst/>
          </a:prstGeom>
          <a:solidFill>
            <a:srgbClr val="C42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5087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🎭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14600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Identity Fraud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No real-time verification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leads to misrepresentation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71600"/>
            <a:ext cx="1920240" cy="73152"/>
          </a:xfrm>
          <a:prstGeom prst="rect">
            <a:avLst/>
          </a:prstGeom>
          <a:solidFill>
            <a:srgbClr val="C42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5087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⏳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Slow KYC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Manual processes add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3–5 days to approval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37160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371600"/>
            <a:ext cx="1920240" cy="73152"/>
          </a:xfrm>
          <a:prstGeom prst="rect">
            <a:avLst/>
          </a:prstGeom>
          <a:solidFill>
            <a:srgbClr val="C42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5087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🗂️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12280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Incomplete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Form-based apps miss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478"/>
                </a:solidFill>
              </a:rPr>
              <a:t>critical customer context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India's NBFC sector processes 50M+ loan applications/year — yet 72% still involve manual touchpoints (RBI 2025)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End-to-end agentic AI loan origination via live video call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46304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411480" cy="411480"/>
          </a:xfrm>
          <a:prstGeom prst="ellipse">
            <a:avLst/>
          </a:prstGeom>
          <a:solidFill>
            <a:srgbClr val="E85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819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Secure Link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Customer clicks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SMS / WhatsApp link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2121408"/>
            <a:ext cx="274320" cy="0"/>
          </a:xfrm>
          <a:prstGeom prst="line">
            <a:avLst/>
          </a:prstGeom>
          <a:noFill/>
          <a:ln w="19050">
            <a:solidFill>
              <a:srgbClr val="E85D2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91840" y="1417320"/>
            <a:ext cx="2560320" cy="146304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554480"/>
            <a:ext cx="411480" cy="411480"/>
          </a:xfrm>
          <a:prstGeom prst="ellipse">
            <a:avLst/>
          </a:prstGeom>
          <a:solidFill>
            <a:srgbClr val="E85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5819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Video Call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AI agent conducts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structured interview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121408"/>
            <a:ext cx="274320" cy="0"/>
          </a:xfrm>
          <a:prstGeom prst="line">
            <a:avLst/>
          </a:prstGeom>
          <a:noFill/>
          <a:ln w="19050">
            <a:solidFill>
              <a:srgbClr val="E85D2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126480" y="1417320"/>
            <a:ext cx="2560320" cy="146304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554480"/>
            <a:ext cx="411480" cy="411480"/>
          </a:xfrm>
          <a:prstGeom prst="ellipse">
            <a:avLst/>
          </a:prstGeom>
          <a:solidFill>
            <a:srgbClr val="E85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15819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Speech-to-Text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0116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Extracts income,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consent, employment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560320" cy="146304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246120"/>
            <a:ext cx="411480" cy="411480"/>
          </a:xfrm>
          <a:prstGeom prst="ellipse">
            <a:avLst/>
          </a:prstGeom>
          <a:solidFill>
            <a:srgbClr val="E85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273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Vision AI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703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Age estimation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from live video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3813048"/>
            <a:ext cx="274320" cy="0"/>
          </a:xfrm>
          <a:prstGeom prst="line">
            <a:avLst/>
          </a:prstGeom>
          <a:noFill/>
          <a:ln w="19050">
            <a:solidFill>
              <a:srgbClr val="E85D2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291840" y="3108960"/>
            <a:ext cx="2560320" cy="146304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3246120"/>
            <a:ext cx="411480" cy="411480"/>
          </a:xfrm>
          <a:prstGeom prst="ellipse">
            <a:avLst/>
          </a:prstGeom>
          <a:solidFill>
            <a:srgbClr val="E85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3273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Engine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29000" y="3703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Fraud detection +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policy rules + ML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3813048"/>
            <a:ext cx="274320" cy="0"/>
          </a:xfrm>
          <a:prstGeom prst="line">
            <a:avLst/>
          </a:prstGeom>
          <a:noFill/>
          <a:ln w="19050">
            <a:solidFill>
              <a:srgbClr val="E85D24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126480" y="3108960"/>
            <a:ext cx="2560320" cy="146304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3246120"/>
            <a:ext cx="411480" cy="411480"/>
          </a:xfrm>
          <a:prstGeom prst="ellipse">
            <a:avLst/>
          </a:prstGeom>
          <a:solidFill>
            <a:srgbClr val="E85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66560" y="3273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Instant Offer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63640" y="3703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Personalized loan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offer generated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6B"/>
                </a:solidFill>
              </a:rPr>
              <a:t>Technical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560320" cy="41148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— React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🎥 Live video stream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🎙 Web Speech API (STT)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📍 Geo-location capture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📸 Webcam screenshot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💬 Real-time transcript UI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📊 Offer display + audit log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743200"/>
            <a:ext cx="457200" cy="0"/>
          </a:xfrm>
          <a:prstGeom prst="line">
            <a:avLst/>
          </a:prstGeom>
          <a:noFill/>
          <a:ln w="25400">
            <a:solidFill>
              <a:srgbClr val="E85D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05840"/>
            <a:ext cx="2651760" cy="411480"/>
          </a:xfrm>
          <a:prstGeom prst="rect">
            <a:avLst/>
          </a:prstGeom>
          <a:solidFill>
            <a:srgbClr val="2A47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— Node.js / Express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1508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🔑 Session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1828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📝 /api/analyze/transcript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148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👤 /api/analyze/age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🛡 /api/analyze/fraud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2788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💰 /api/offer/generate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3108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📁 Audit log storage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743200"/>
            <a:ext cx="457200" cy="0"/>
          </a:xfrm>
          <a:prstGeom prst="line">
            <a:avLst/>
          </a:prstGeom>
          <a:noFill/>
          <a:ln w="25400">
            <a:solidFill>
              <a:srgbClr val="E85D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1005840"/>
            <a:ext cx="2286000" cy="347472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1005840"/>
            <a:ext cx="2286000" cy="411480"/>
          </a:xfrm>
          <a:prstGeom prst="rect">
            <a:avLst/>
          </a:prstGeom>
          <a:solidFill>
            <a:srgbClr val="E85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005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 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15087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🧾 Transcript extraction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18288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👁 Vision age estimation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2148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🔍 Fraud signal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24688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🤖 Risk classification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2788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💳 Offer generation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1089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📋 Audit decision log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Stack: React 18 · Vite · Node.js · Express · Anthropic SDK · Web Speech API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6B"/>
                </a:solidFill>
              </a:rPr>
              <a:t>AI Intelligence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</a:rPr>
              <a:t>Powered by Claude Sonnet — 4 specialized AI calls per session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91440" cy="160020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356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🧾  Transcript Intelligence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Extracts: name, income, employer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Detects verbal consent (auditable)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Confidence score per field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Identifies missing information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6426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Outputs structured JSON profile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25880"/>
            <a:ext cx="91440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356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👤  Vision Age Estimation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8013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Analyzes webcam screenshot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Returns age range + confidence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2219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Flags: no face, poor lighting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Adult verification (18+)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6426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Fraud mismatch detection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54680"/>
            <a:ext cx="91440" cy="1600200"/>
          </a:xfrm>
          <a:prstGeom prst="rect">
            <a:avLst/>
          </a:prstGeom>
          <a:solidFill>
            <a:srgbClr val="6D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64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🛡️  Fraud Detection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630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Age declared vs. estimated gap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Income-loan plausibility check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0507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Geo-location anomaly scan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2611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Severity: low / medium / high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4714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Structured flag + recommendation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1546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154680"/>
            <a:ext cx="91440" cy="1600200"/>
          </a:xfrm>
          <a:prstGeom prst="rect">
            <a:avLst/>
          </a:prstGeom>
          <a:solidFill>
            <a:srgbClr val="1A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64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💰  Loan Offer Generator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630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3 tiers: Conservative/Recommended/Premium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Range: ₹1L–₹30L, 11%–29% p.a.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40507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EMI, tenure, processing fee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42611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Personalized message per customer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44714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·  Full audit log with decision trail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Judging Criteria — Full Coverage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216152"/>
            <a:ext cx="64008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21615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713232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End-to-end digitisation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Zero paper. Full video → analysis → offer flow. No branch visit, no form.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8412480" cy="64008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1965960"/>
            <a:ext cx="64008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9659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6775704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0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Accuracy &amp; compliance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17627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Claude Vision KYC + verbal consent capture + auditable session log.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8412480" cy="64008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715768"/>
            <a:ext cx="640080" cy="402336"/>
          </a:xfrm>
          <a:prstGeom prst="rect">
            <a:avLst/>
          </a:prstGeom>
          <a:solidFill>
            <a:srgbClr val="1C5F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71576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92%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6561734" cy="54864"/>
          </a:xfrm>
          <a:prstGeom prst="rect">
            <a:avLst/>
          </a:prstGeom>
          <a:solidFill>
            <a:srgbClr val="1C5F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700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mitigation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92608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Multi-signal fraud engine: age mismatch, geo anomaly, income plausibility.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346704"/>
            <a:ext cx="8412480" cy="64008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465576"/>
            <a:ext cx="64008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346557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96%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13632"/>
            <a:ext cx="6847027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198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Intelligence &amp; personalization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67588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LLM classifies risk band + generates 3-tier personalized loan offers.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8412480" cy="64008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4215384"/>
            <a:ext cx="640080" cy="402336"/>
          </a:xfrm>
          <a:prstGeom prst="rect">
            <a:avLst/>
          </a:prstGeom>
          <a:solidFill>
            <a:srgbClr val="C47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21538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88%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6276442" cy="54864"/>
          </a:xfrm>
          <a:prstGeom prst="rect">
            <a:avLst/>
          </a:prstGeom>
          <a:solidFill>
            <a:srgbClr val="C47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1696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Scalability &amp; reliability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425696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Stateless REST API design. Session-based. Cloud-deployable in minutes.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6B"/>
                </a:solidFill>
              </a:rPr>
              <a:t>Live Demo — 4-Step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920240" cy="3200400"/>
          </a:xfrm>
          <a:prstGeom prst="rect">
            <a:avLst/>
          </a:prstGeom>
          <a:solidFill>
            <a:srgbClr val="1A2E6B"/>
          </a:solidFill>
          <a:ln w="12700">
            <a:solidFill>
              <a:srgbClr val="2A4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1737360" cy="2560320"/>
          </a:xfrm>
          <a:prstGeom prst="rect">
            <a:avLst/>
          </a:prstGeom>
          <a:solidFill>
            <a:srgbClr val="0D1F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🏠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37160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633472"/>
            <a:ext cx="109728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889504"/>
            <a:ext cx="82296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1. Landing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8"/>
                </a:solidFill>
              </a:rPr>
              <a:t>Customer enters via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8"/>
                </a:solidFill>
              </a:rPr>
              <a:t>secure link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914400"/>
            <a:ext cx="1920240" cy="3200400"/>
          </a:xfrm>
          <a:prstGeom prst="rect">
            <a:avLst/>
          </a:prstGeom>
          <a:solidFill>
            <a:srgbClr val="1A2E6B"/>
          </a:solidFill>
          <a:ln w="12700">
            <a:solidFill>
              <a:srgbClr val="2A4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51560"/>
            <a:ext cx="1737360" cy="2560320"/>
          </a:xfrm>
          <a:prstGeom prst="rect">
            <a:avLst/>
          </a:prstGeom>
          <a:solidFill>
            <a:srgbClr val="0D1F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4630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🎥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2743200" y="2377440"/>
            <a:ext cx="137160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633472"/>
            <a:ext cx="109728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889504"/>
            <a:ext cx="82296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2. Video Call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4480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8"/>
                </a:solidFill>
              </a:rPr>
              <a:t>AI agent interviews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8"/>
                </a:solidFill>
              </a:rPr>
              <a:t>via voice + camera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1920240" cy="3200400"/>
          </a:xfrm>
          <a:prstGeom prst="rect">
            <a:avLst/>
          </a:prstGeom>
          <a:solidFill>
            <a:srgbClr val="1A2E6B"/>
          </a:solidFill>
          <a:ln w="12700">
            <a:solidFill>
              <a:srgbClr val="2A4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1737360" cy="2560320"/>
          </a:xfrm>
          <a:prstGeom prst="rect">
            <a:avLst/>
          </a:prstGeom>
          <a:solidFill>
            <a:srgbClr val="0D1F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630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🧠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4892040" y="2377440"/>
            <a:ext cx="137160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2633472"/>
            <a:ext cx="109728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889504"/>
            <a:ext cx="82296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3. AI Analysis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4480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8"/>
                </a:solidFill>
              </a:rPr>
              <a:t>4-step real-time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8"/>
                </a:solidFill>
              </a:rPr>
              <a:t>processing display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914400"/>
            <a:ext cx="1920240" cy="3200400"/>
          </a:xfrm>
          <a:prstGeom prst="rect">
            <a:avLst/>
          </a:prstGeom>
          <a:solidFill>
            <a:srgbClr val="1A2E6B"/>
          </a:solidFill>
          <a:ln w="12700">
            <a:solidFill>
              <a:srgbClr val="2A4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1051560"/>
            <a:ext cx="1737360" cy="2560320"/>
          </a:xfrm>
          <a:prstGeom prst="rect">
            <a:avLst/>
          </a:prstGeom>
          <a:solidFill>
            <a:srgbClr val="0D1F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4630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🎁</a:t>
            </a:r>
            <a:endParaRPr lang="en-US" sz="4400" dirty="0"/>
          </a:p>
        </p:txBody>
      </p:sp>
      <p:sp>
        <p:nvSpPr>
          <p:cNvPr id="30" name="Shape 28"/>
          <p:cNvSpPr/>
          <p:nvPr/>
        </p:nvSpPr>
        <p:spPr>
          <a:xfrm>
            <a:off x="7040880" y="2377440"/>
            <a:ext cx="137160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2633472"/>
            <a:ext cx="109728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2889504"/>
            <a:ext cx="822960" cy="128016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6B"/>
                </a:solidFill>
              </a:rPr>
              <a:t>4. Loan Offer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4480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8"/>
                </a:solidFill>
              </a:rPr>
              <a:t>3-tier offer with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478"/>
                </a:solidFill>
              </a:rPr>
              <a:t>audit log &amp; fraud flags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 frontend · Node.js backend · All AI calls powered by Claude claude-sonnet-4-20250514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6B"/>
                </a:solidFill>
              </a:rPr>
              <a:t>Business Impact &amp;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128016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D24"/>
                </a:solidFill>
              </a:rPr>
              <a:t>~80%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Drop in KYC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manual effort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005840"/>
            <a:ext cx="1920240" cy="128016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1460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D24"/>
                </a:solidFill>
              </a:rPr>
              <a:t>2 min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51460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Full onboarding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vs. 2-3 days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1920240" cy="128016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D24"/>
                </a:solidFill>
              </a:rPr>
              <a:t>3x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Fraud detection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vs. form-only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005840"/>
            <a:ext cx="1920240" cy="1280160"/>
          </a:xfrm>
          <a:prstGeom prst="rect">
            <a:avLst/>
          </a:prstGeom>
          <a:solidFill>
            <a:srgbClr val="1A2E6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D24"/>
                </a:solidFill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81228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Digital journey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zero paper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6B"/>
                </a:solidFill>
              </a:rPr>
              <a:t>Roadmap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73152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9923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6B"/>
                </a:solidFill>
              </a:rPr>
              <a:t>Phase 1 — Now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99923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Video KYC · Transcript AI · Age estimation · Fraud detection · Offer generation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66160"/>
            <a:ext cx="73152" cy="530352"/>
          </a:xfrm>
          <a:prstGeom prst="rect">
            <a:avLst/>
          </a:prstGeom>
          <a:solidFill>
            <a:srgbClr val="2A47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393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6B"/>
                </a:solidFill>
              </a:rPr>
              <a:t>Phase 2 — Q3 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63931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Aadhaar/PAN OCR · CIBIL bureau API · Multi-language (Bhashini) · WhatsApp channel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06240"/>
            <a:ext cx="73152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793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6B"/>
                </a:solidFill>
              </a:rPr>
              <a:t>Phase 3 — Q4 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427939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</a:rPr>
              <a:t>Custom ML propensity model · Encrypted video storage · Lender dashboard · NBFC API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LoanWizard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2-minute video. Instant offer. Zero paperwork.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0" y="2560320"/>
            <a:ext cx="1097280" cy="1097280"/>
          </a:xfrm>
          <a:prstGeom prst="ellipse">
            <a:avLst/>
          </a:prstGeom>
          <a:solidFill>
            <a:srgbClr val="E85D2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6060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337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Video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2560320"/>
            <a:ext cx="1097280" cy="1097280"/>
          </a:xfrm>
          <a:prstGeom prst="ellipse">
            <a:avLst/>
          </a:prstGeom>
          <a:solidFill>
            <a:srgbClr val="E85D2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6060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0" y="3337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Fraud Safe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1097280" cy="1097280"/>
          </a:xfrm>
          <a:prstGeom prst="ellipse">
            <a:avLst/>
          </a:prstGeom>
          <a:solidFill>
            <a:srgbClr val="E85D2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6060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43600" y="3337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Instant Offer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TenzorX 2026 · Poonawalla Fincorp · Problem Statement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24"/>
                </a:solidFill>
              </a:rPr>
              <a:t>github.com/YOUR_USERNAME/loanwizard-tenzorx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LoanWizard – TenzorX 2026</dc:title>
  <dc:subject>PptxGenJS Presentation</dc:subject>
  <dc:creator>TenzorX Hackathon Team</dc:creator>
  <cp:lastModifiedBy>TenzorX Hackathon Team</cp:lastModifiedBy>
  <cp:revision>1</cp:revision>
  <dcterms:created xsi:type="dcterms:W3CDTF">2026-04-19T11:59:28Z</dcterms:created>
  <dcterms:modified xsi:type="dcterms:W3CDTF">2026-04-19T11:59:28Z</dcterms:modified>
</cp:coreProperties>
</file>